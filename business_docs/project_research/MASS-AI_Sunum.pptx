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Stacking</c:v>
                  </c:pt>
                  <c:pt idx="1">
                    <c:v>RF</c:v>
                  </c:pt>
                  <c:pt idx="2">
                    <c:v>XGBoost</c:v>
                  </c:pt>
                  <c:pt idx="3">
                    <c:v>GB</c:v>
                  </c:pt>
                  <c:pt idx="4">
                    <c:v>IF</c:v>
                  </c:pt>
                  <c:pt idx="5">
                    <c:v>LSTM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0.9428</c:v>
                </c:pt>
                <c:pt idx="1">
                  <c:v>0.9461</c:v>
                </c:pt>
                <c:pt idx="2">
                  <c:v>0.9322</c:v>
                </c:pt>
                <c:pt idx="3">
                  <c:v>0.938</c:v>
                </c:pt>
                <c:pt idx="4">
                  <c:v>0.8208</c:v>
                </c:pt>
                <c:pt idx="5">
                  <c:v>0.7482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Stacking</c:v>
                  </c:pt>
                  <c:pt idx="1">
                    <c:v>RF</c:v>
                  </c:pt>
                  <c:pt idx="2">
                    <c:v>XGBoost</c:v>
                  </c:pt>
                  <c:pt idx="3">
                    <c:v>GB</c:v>
                  </c:pt>
                  <c:pt idx="4">
                    <c:v>IF</c:v>
                  </c:pt>
                  <c:pt idx="5">
                    <c:v>LSTM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0.8727</c:v>
                </c:pt>
                <c:pt idx="1">
                  <c:v>0.8704</c:v>
                </c:pt>
                <c:pt idx="2">
                  <c:v>0.844</c:v>
                </c:pt>
                <c:pt idx="3">
                  <c:v>0.8411</c:v>
                </c:pt>
                <c:pt idx="4">
                  <c:v>0.2609</c:v>
                </c:pt>
                <c:pt idx="5">
                  <c:v>0.56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MASS-AI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 Akıllı Sayaç Sistemleri İçin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Tabanlı Anomali Tespit ve Kaçak Elektrik Sınıflandırma Sistemi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86000" y="3840480"/>
            <a:ext cx="4572000" cy="914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Ömer Burak Koçak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 — Elektrik-Elektronik Mühendisliği — Mart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Problem: Türkiye'de Kaçak Elektrik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011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%28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Kayıp/Kaçak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Oranı (Dicle)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06040" cy="2011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05840"/>
            <a:ext cx="260604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Sayaç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 (2028)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06040" cy="20116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060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60-80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Milyar ₺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Kaçak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 Kaybı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Mart 2026'da başlayan MASS projesi ile 50 milyon sayaç akıllı sayaca dönüşecek.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bu veriden kaçak tespiti yapacak bir AI altyapısı henüz yok.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MASS-AI bu boşluğu doldurmak için geliştirildi.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Çözüm: MASS-AI Sistemi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55448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AI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ve deep learning yaklaşımları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005840"/>
            <a:ext cx="39776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005840"/>
            <a:ext cx="64008" cy="155448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Gerçek Zamanlı Dashboard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haritası, alarmlar, müşteri detay, canlı simülasyon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776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Tespit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Tatil/bayram false positive'leri akıllıca filtreler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2834640"/>
            <a:ext cx="3977640" cy="155448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834640"/>
            <a:ext cx="64008" cy="155448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546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Açıklanabilirlik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müşteri için 'neden kaçak?' açıklaması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 ve Özellik Mühendisliği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Sentetik Veri Seti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müşteri (konut, ticari, sanayi)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gün, 15 dakikalık aralıklar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17,280 ölçüm/müşteri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%12 kaçak oranı (240 müşteri)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farklı kaçak senaryosu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müşteriye tatil paterni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34+ Özellik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İstatistiksel: ortalama, std, çarpıklık, basıklık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Zamansal: gece/gündüz, hafta içi/sonu, pik saat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Anomali: sıfır ölçüm %, ani değişim oranı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V-shape skoru, komşu korelasyonu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Tatil: bayram tüketim oranı, standby analizi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Geçiş: düşüş/yükseliş kenarları, dönüş etkisi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Kaçak Senaryoları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Sabit Azaltma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Gece Sıfır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Rastgele Sıfır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Kademeli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Pik Kırpma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Sayaç manipülasyonu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Kablo bypass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Sayaç durdurma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Yavaş hırsızlık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Akım sınırlama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Karşılaştırması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Stacking Ensemble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Meta-Learning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0.9428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0.8727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0.9004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Supervised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0.9461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Supervised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0.9322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Supervised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0.9380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Isolation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Unsupervised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0.8208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0.2609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LSTM Autoencoder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Deep Learning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0.7482*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0.5600*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*Müşteri bazlı değerlendirme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3657600"/>
          <a:ext cx="82296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Akıllı Tespit: Tatil vs Kaçak Ayrımı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Tatile giden müşterinin tüketimi düşer — bu kaçak değil ama model kaçak sanabilir.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EAFA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Tatil Müşterisi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V-shape patern (düşüş → dönüş)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Buzdolabı tüketimi devam eder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Komşuları da benzer patern gösterir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Tatilden dönünce tüketim artar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tatillerle örtüşür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Kaçak Müşterisi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düşük veya kademeli azalma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tüketimi tam sıfır olabilir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Komşularından belirgin farklılık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yok — düşük kalır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Takvimle ilişkisiz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Context-aware model ROC-AUC 0.9526'ya yükseldi, tatildeki 87 normal müşterinin tamamı doğru sınıflandırıldı (0 false positive)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v2.0 — 5 Sekmeli İzleme Paneli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Genel Bakış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Harita, KPI'lar, risk dağılımı, alarm tablosu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4592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Zaman Serisi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6459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vs kaçak karşılaştırma, 5 kaçak türü grid'i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Model Performansı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3774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 PR curve, confusion matrix, SHAP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🔎 Müşteri Detay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108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 profili, günlük toplam, radar grafiği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64008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Canlı Simülasyon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840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veri efekti, gerçek zamanlı anomali tespiti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 satır Streamlit kodu — streamlit run dashboard/app.py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Ekonomik Etki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828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060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20-30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Milyar 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Potansiyel Yıllık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Katkı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06040" cy="1828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0604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1:1000+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Maliyet-Fayda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Oranı (ROI)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06040" cy="18288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6060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515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Ekibi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Verimlilik Artışı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durum: Saha ekipleri rastgele denetimle kaçakların %5-10'unu buluyor.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MASS-AI ile: Aynı ekip en şüpheli müşterilere yönlendirilir, 10 kat fazla kaçak yakalanır.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maliyeti: Yıllık ~5-10 milyon ₺ (bulut sunucu + bakım)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getiri: Yıllık 20-30 milyar ₺ kaçak azaltma potansiyeli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0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Sonuç ve Yol Haritası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600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ML modeli ile %94+ AUC doğruluk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93392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37360" y="1993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tespit ile tatil false positive çözümü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38658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37360" y="23865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ile açıklanabilir karar mekanizması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779776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37360" y="2779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 satırlık interaktif Streamlit dashboard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172968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37360" y="3172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formatında teknik makale taslağı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566160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737360" y="35661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komutla çalışan pipeline orchestrator</a:t>
            </a:r>
            <a:endParaRPr lang="en-US" sz="1400" dirty="0"/>
          </a:p>
        </p:txBody>
      </p:sp>
      <p:sp>
        <p:nvSpPr>
          <p:cNvPr id="17" name="Shape 8"/>
          <p:cNvSpPr/>
          <p:nvPr/>
        </p:nvSpPr>
        <p:spPr>
          <a:xfrm>
            <a:off x="1828800" y="4069080"/>
            <a:ext cx="5486400" cy="914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9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Ömer Burak Koçak — Marmara Üniversitesi EEE — Mart 2026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github.com/YOUR_USERNAME/mass-ai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MASS-AI: Akıllı Sayaç Anomali Tespiti</dc:title>
  <dc:subject>PptxGenJS Presentation</dc:subject>
  <dc:creator>Ömer Burak Koçak</dc:creator>
  <cp:lastModifiedBy>Ömer Burak Koçak</cp:lastModifiedBy>
  <cp:revision>1</cp:revision>
  <dcterms:created xsi:type="dcterms:W3CDTF">2026-03-07T19:42:33Z</dcterms:created>
  <dcterms:modified xsi:type="dcterms:W3CDTF">2026-03-07T19:42:33Z</dcterms:modified>
</cp:coreProperties>
</file>