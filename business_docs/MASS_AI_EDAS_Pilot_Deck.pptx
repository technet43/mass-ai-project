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MASS-AI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EDAŞ pilot görüşmesi için kısa sunum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Akıllı sayaç verisinden riskli aboneleri tespit eden ve saha ekiplerini önceliklendiren karar destek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Ham sayaç verisi veya feature CSV yükle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Risk skoru üret, case kuyruğu oluştur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Saha sonucunu geri yaz, pilot KPI’yı ölç</a:t>
            </a:r>
          </a:p>
        </p:txBody>
      </p:sp>
      <p:pic>
        <p:nvPicPr>
          <p:cNvPr id="6" name="Picture 5" descr="dashboard_v2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3035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66360"/>
            <a:ext cx="10789920" cy="82296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A"/>
                </a:solidFill>
              </a:defRPr>
            </a:pPr>
            <a:r>
              <a:t>Bugünkü konumlandırma: Production lisansı değil, kontrollü pilot ve inceleme önceliklendirme platformu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Manuel inceleme seçimi pahalı, yavaş ve düşük isabetli olabilir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Sayaç verisi büyüyor ama inceleme ekipleri sınırlı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Her şüpheli abonede saha ziyareti mümkün değil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Asıl ihtiyaç: en yüksek değerli vakaları önce görmek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çok veri + az analitik = verimsiz inceleme süreci</a:t>
            </a:r>
          </a:p>
        </p:txBody>
      </p:sp>
      <p:pic>
        <p:nvPicPr>
          <p:cNvPr id="6" name="Picture 5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2120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4846320"/>
            <a:ext cx="2011680" cy="10058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56048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Odak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önceliklendirme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846320"/>
            <a:ext cx="2011680" cy="10058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956048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Amaç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hit-rate artışı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846320"/>
            <a:ext cx="2011680" cy="10058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4956048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Sonuç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daha az boşa ziyaret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Bugün ne kanıtlandı?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Gerçek EDAŞ verisiyle değil; sentetik, benchmark-format ve ürün akışı seviyesinde</a:t>
            </a:r>
          </a:p>
        </p:txBody>
      </p:sp>
      <p:pic>
        <p:nvPicPr>
          <p:cNvPr id="4" name="Picture 3" descr="mode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3657600" cy="4114800"/>
          </a:xfrm>
          <a:prstGeom prst="rect">
            <a:avLst/>
          </a:prstGeom>
        </p:spPr>
      </p:pic>
      <p:pic>
        <p:nvPicPr>
          <p:cNvPr id="5" name="Picture 4" descr="sgcc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25880"/>
            <a:ext cx="3657600" cy="4114800"/>
          </a:xfrm>
          <a:prstGeom prst="rect">
            <a:avLst/>
          </a:prstGeom>
        </p:spPr>
      </p:pic>
      <p:pic>
        <p:nvPicPr>
          <p:cNvPr id="6" name="Picture 5" descr="advanced_pipeline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325880"/>
            <a:ext cx="310896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32120"/>
            <a:ext cx="10972800" cy="68580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09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Doğru satış dili: “Kanıtlanmış üretim çözümü” değil, “gerçek veriyle hızlı pilotlanabilir karar destek sistemi”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Ürün akışı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Pilotta görülecek gerçek iş akışı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1920240" cy="23774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084831"/>
            <a:ext cx="1700784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1. Upload</a:t>
            </a:r>
          </a:p>
          <a:p>
            <a:pPr>
              <a:defRPr sz="1200">
                <a:solidFill>
                  <a:srgbClr val="C8D2DC"/>
                </a:solidFill>
              </a:defRPr>
            </a:pPr>
            <a:r>
              <a:t>ham sayaç CSV / feature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920240"/>
            <a:ext cx="1920240" cy="23774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5808" y="2084831"/>
            <a:ext cx="1700784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2. Risk scoring</a:t>
            </a:r>
          </a:p>
          <a:p>
            <a:pPr>
              <a:defRPr sz="1200">
                <a:solidFill>
                  <a:srgbClr val="C8D2DC"/>
                </a:solidFill>
              </a:defRPr>
            </a:pPr>
            <a:r>
              <a:t>müşteri bazlı skor ve öncelik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920240"/>
            <a:ext cx="1920240" cy="23774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76088" y="2084831"/>
            <a:ext cx="1700784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3. Case queue</a:t>
            </a:r>
          </a:p>
          <a:p>
            <a:pPr>
              <a:defRPr sz="1200">
                <a:solidFill>
                  <a:srgbClr val="C8D2DC"/>
                </a:solidFill>
              </a:defRPr>
            </a:pPr>
            <a:r>
              <a:t>analist ve saha kuyruğu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920240"/>
            <a:ext cx="1920240" cy="23774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2084831"/>
            <a:ext cx="1700784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4. Field feedback</a:t>
            </a:r>
          </a:p>
          <a:p>
            <a:pPr>
              <a:defRPr sz="1200">
                <a:solidFill>
                  <a:srgbClr val="C8D2DC"/>
                </a:solidFill>
              </a:defRPr>
            </a:pPr>
            <a:r>
              <a:t>confirmed / rejected / 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920240"/>
            <a:ext cx="1920240" cy="237744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6648" y="2084831"/>
            <a:ext cx="1700784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5. Pilot KPI</a:t>
            </a:r>
          </a:p>
          <a:p>
            <a:pPr>
              <a:defRPr sz="1200">
                <a:solidFill>
                  <a:srgbClr val="C8D2DC"/>
                </a:solidFill>
              </a:defRPr>
            </a:pPr>
            <a:r>
              <a:t>hit-rate, false-positive, recovered amount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920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upload → score → case → field review →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Bu zincir bugün ürün içinde mevcut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Pilot boyunca saha geri bildirimi sisteme geri yazılabiliyor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Ekranlar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Pilotta gösterilecek iki ana yüz</a:t>
            </a:r>
          </a:p>
        </p:txBody>
      </p:sp>
      <p:pic>
        <p:nvPicPr>
          <p:cNvPr id="4" name="Picture 3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86400" cy="4114800"/>
          </a:xfrm>
          <a:prstGeom prst="rect">
            <a:avLst/>
          </a:prstGeom>
        </p:spPr>
      </p:pic>
      <p:pic>
        <p:nvPicPr>
          <p:cNvPr id="5" name="Picture 4" descr="dashboard_v2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486400"/>
            <a:ext cx="2560320" cy="82296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96128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Yönetici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KPI + toplam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5486400"/>
            <a:ext cx="2560320" cy="82296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5596128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Analist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alert + case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486400"/>
            <a:ext cx="2560320" cy="82296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5596128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Pilot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field feedback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5486400"/>
            <a:ext cx="2286000" cy="82296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5596128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History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upload/model run trace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Önerilen pilot kapsamı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Küçük başla, ölç, sonra büyüt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1 bölge veya alt bölge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3–6 aylık veri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Batch upload ile başlat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Haftalık KPI değerlendirmesi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Pilot sonunda sonuç raporu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920240"/>
            <a:ext cx="1508760" cy="1417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2148840"/>
            <a:ext cx="1325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Veri uyumlandırma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1508760" cy="141732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148840"/>
            <a:ext cx="1325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Skorlama ve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920240"/>
            <a:ext cx="1508760" cy="1417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148840"/>
            <a:ext cx="1325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Saha geri bildirimi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920240"/>
            <a:ext cx="1508760" cy="141732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2148840"/>
            <a:ext cx="1325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Pilot KPI raporu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8862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Amaç: tam üretim değil, kontrollü doğrulama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846320"/>
            <a:ext cx="2011680" cy="91440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956048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Süre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6–8 hafta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846320"/>
            <a:ext cx="2011680" cy="91440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956048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Veri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tek format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4846320"/>
            <a:ext cx="1828800" cy="91440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956048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Çıktı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ölçülebilir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Pilot KPI’ları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Başarıyı teknik skorla değil, saha sonucu ile ölç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hit-rate = confirmed fraud / reviewed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false-positive rate = rejected cases / reviewed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review coverage = reviewed cases / total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ΔV = net value_ai − net value_current</a:t>
            </a:r>
          </a:p>
        </p:txBody>
      </p:sp>
      <p:pic>
        <p:nvPicPr>
          <p:cNvPr id="8" name="Picture 7" descr="v3_al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486400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074920"/>
            <a:ext cx="4572000" cy="86868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85232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Pilotın ana sorusu: manuel seçimden daha iyi bir inceleme kuyruğu üretebiliyor muyuz?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Ticari geçiş yolu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Pilot diliyle gir, lisansa sonra geç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926080" cy="274320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A"/>
                </a:solidFill>
              </a:defRPr>
            </a:pPr>
            <a:r>
              <a:t>Pilot</a:t>
            </a:r>
          </a:p>
          <a:p>
            <a:pPr>
              <a:defRPr sz="1500">
                <a:solidFill>
                  <a:srgbClr val="C8D2DC"/>
                </a:solidFill>
              </a:defRPr>
            </a:pPr>
            <a:r>
              <a:t>tek bölge</a:t>
            </a:r>
            <a:br/>
            <a:r>
              <a:t>batch upload</a:t>
            </a:r>
            <a:br/>
            <a:r>
              <a:t>haftalık rapor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2926080" cy="2743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A"/>
                </a:solidFill>
              </a:defRPr>
            </a:pPr>
            <a:r>
              <a:t>Operational</a:t>
            </a:r>
          </a:p>
          <a:p>
            <a:pPr>
              <a:defRPr sz="1500">
                <a:solidFill>
                  <a:srgbClr val="C8D2DC"/>
                </a:solidFill>
              </a:defRPr>
            </a:pPr>
            <a:r>
              <a:t>çok kullanıcı</a:t>
            </a:r>
            <a:br/>
            <a:r>
              <a:t>workflow</a:t>
            </a:r>
            <a:br/>
            <a:r>
              <a:t>saha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737360"/>
            <a:ext cx="2926080" cy="274320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96596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A"/>
                </a:solidFill>
              </a:defRPr>
            </a:pPr>
            <a:r>
              <a:t>Enterprise</a:t>
            </a:r>
          </a:p>
          <a:p>
            <a:pPr>
              <a:defRPr sz="1500">
                <a:solidFill>
                  <a:srgbClr val="C8D2DC"/>
                </a:solidFill>
              </a:defRPr>
            </a:pPr>
            <a:r>
              <a:t>özel entegrasyon</a:t>
            </a:r>
            <a:br/>
            <a:r>
              <a:t>on-prem / private cloud</a:t>
            </a:r>
            <a:br/>
            <a:r>
              <a:t>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98348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pilot → operational deployment → enterprise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İlk satış bir lisans değil, kontrollü pilot olmalı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Neden farklıyız?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Tek model değil; entegrasyon + operasyonel akış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Explainable scoring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Alert → case → field feedback akışı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Upload / model run history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Pilot KPI ve recovered amount takibi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EDAŞ diliyle anlatılabilir operasyonel ürün</a:t>
            </a:r>
          </a:p>
        </p:txBody>
      </p:sp>
      <p:pic>
        <p:nvPicPr>
          <p:cNvPr id="5" name="Picture 4" descr="advanced_pipeline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54864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66360"/>
            <a:ext cx="10789920" cy="731520"/>
          </a:xfrm>
          <a:prstGeom prst="roundRect">
            <a:avLst/>
          </a:prstGeom>
          <a:solidFill>
            <a:srgbClr val="1C2D47"/>
          </a:solidFill>
          <a:ln>
            <a:solidFill>
              <a:srgbClr val="1C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6752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A"/>
                </a:solidFill>
              </a:defRPr>
            </a:pPr>
            <a:r>
              <a:t>Satış cümlesi: “Saha ekiplerinin boşa giden incelemelerini azaltan karar destek platformu”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Çağrı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2DC"/>
                </a:solidFill>
              </a:defRPr>
            </a:pPr>
            <a:r>
              <a:t>Birlikte kontrollü pilot başlatalım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</a:defRPr>
            </a:pPr>
            <a:r>
              <a:t>1 bölge seçelim</a:t>
            </a:r>
          </a:p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</a:defRPr>
            </a:pPr>
            <a:r>
              <a:t>3–6 aylık veri paylaşalım</a:t>
            </a:r>
          </a:p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</a:defRPr>
            </a:pPr>
            <a:r>
              <a:t>İlk batch çalıştırmayı yapalım</a:t>
            </a:r>
          </a:p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</a:defRPr>
            </a:pPr>
            <a:r>
              <a:t>Saha geri bildirimiyle KPI’yı ölçelim</a:t>
            </a:r>
          </a:p>
          <a:p>
            <a:pPr>
              <a:spcAft>
                <a:spcPts val="1000"/>
              </a:spcAft>
              <a:defRPr sz="2100">
                <a:solidFill>
                  <a:srgbClr val="F5F7FA"/>
                </a:solidFill>
              </a:defRPr>
            </a:pPr>
            <a:r>
              <a:t>Pilot sonunda genişleme kararı verelim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Başarı tanımı: AI queue precision &gt; mevcut manuel queue precision</a:t>
            </a:r>
          </a:p>
        </p:txBody>
      </p:sp>
      <p:pic>
        <p:nvPicPr>
          <p:cNvPr id="6" name="Picture 5" descr="dashboard_v2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2588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5257800"/>
            <a:ext cx="466344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46811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A"/>
                </a:solidFill>
              </a:defRPr>
            </a:pPr>
            <a:r>
              <a:t>Sonraki adım: veri talep şablonu + pilot kickoff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